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Safety Signal Review —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Synthetic dataset: 120 reports; StudyDrug-A 80; comparators 40.</a:t>
            </a:r>
          </a:p>
          <a:p>
            <a:pPr>
              <a:spcAft>
                <a:spcPts val="1200"/>
              </a:spcAft>
              <a:defRPr sz="1800"/>
            </a:pPr>
            <a:r>
              <a:t>Potential signal selected: ALT increased (31 StudyDrug-A reports vs 6 comparator reports).</a:t>
            </a:r>
          </a:p>
          <a:p>
            <a:pPr>
              <a:spcAft>
                <a:spcPts val="1200"/>
              </a:spcAft>
              <a:defRPr sz="1800"/>
            </a:pPr>
            <a:r>
              <a:t>PRR 2.58; ROR 3.59. These are prioritization statistics, not proof of causality.</a:t>
            </a:r>
          </a:p>
          <a:p>
            <a:pPr>
              <a:spcAft>
                <a:spcPts val="1200"/>
              </a:spcAft>
              <a:defRPr sz="1800"/>
            </a:pPr>
            <a:r>
              <a:t>Recommendation: proceed to individual-case and clinical evaluation.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Training exercise — synthetic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Descriptive Safety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StudyDrug-A serious reports: 21/80 (26.2%).</a:t>
            </a:r>
          </a:p>
          <a:p>
            <a:pPr>
              <a:spcAft>
                <a:spcPts val="1200"/>
              </a:spcAft>
              <a:defRPr sz="1800"/>
            </a:pPr>
            <a:r>
              <a:t>ALT increased in 31/80 StudyDrug-A reports (38.8%).</a:t>
            </a:r>
          </a:p>
          <a:p>
            <a:pPr>
              <a:spcAft>
                <a:spcPts val="1200"/>
              </a:spcAft>
              <a:defRPr sz="1800"/>
            </a:pPr>
            <a:r>
              <a:t>ALT increased in 6/40 comparator reports (15.0%).</a:t>
            </a:r>
          </a:p>
          <a:p>
            <a:pPr>
              <a:spcAft>
                <a:spcPts val="1200"/>
              </a:spcAft>
              <a:defRPr sz="1800"/>
            </a:pPr>
            <a:r>
              <a:t>No exposure denominator is available; reporting proportions are not incidence rates.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Potential Signal — ALT Increased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2×2: StudyDrug-A 31 event / 49 non-event; comparators 6 / 34.</a:t>
            </a:r>
          </a:p>
          <a:p>
            <a:pPr>
              <a:spcAft>
                <a:spcPts val="1200"/>
              </a:spcAft>
              <a:defRPr sz="1800"/>
            </a:pPr>
            <a:r>
              <a:t>PRR = 2.58; ROR = 3.59; Pearson χ² = 7.05.</a:t>
            </a:r>
          </a:p>
          <a:p>
            <a:pPr>
              <a:spcAft>
                <a:spcPts val="1200"/>
              </a:spcAft>
              <a:defRPr sz="1800"/>
            </a:pPr>
            <a:r>
              <a:t>Aggregate finding warrants further investigation in this exercise.</a:t>
            </a:r>
          </a:p>
          <a:p>
            <a:pPr>
              <a:spcAft>
                <a:spcPts val="1200"/>
              </a:spcAft>
              <a:defRPr sz="1800"/>
            </a:pPr>
            <a:r>
              <a:t>Do not conclude causality from disproportionality alone.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Alternative Explanations &amp;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Confounding by disease/patient characteristics; concomitant medicines.</a:t>
            </a:r>
          </a:p>
          <a:p>
            <a:pPr>
              <a:spcAft>
                <a:spcPts val="1200"/>
              </a:spcAft>
              <a:defRPr sz="1800"/>
            </a:pPr>
            <a:r>
              <a:t>Differential reporting, monitoring or coding; exposure changes.</a:t>
            </a:r>
          </a:p>
          <a:p>
            <a:pPr>
              <a:spcAft>
                <a:spcPts val="1200"/>
              </a:spcAft>
              <a:defRPr sz="1800"/>
            </a:pPr>
            <a:r>
              <a:t>Review duplicates, chronology, dose, laboratory values, dechallenge/rechallenge.</a:t>
            </a:r>
          </a:p>
          <a:p>
            <a:pPr>
              <a:spcAft>
                <a:spcPts val="1200"/>
              </a:spcAft>
              <a:defRPr sz="1800"/>
            </a:pPr>
            <a:r>
              <a:t>Compare with clinical-trial, post-authorisation and external evidence.</a:t>
            </a:r>
          </a:p>
          <a:p>
            <a:pPr>
              <a:spcAft>
                <a:spcPts val="1200"/>
              </a:spcAft>
              <a:defRPr sz="1800"/>
            </a:pPr>
            <a:r>
              <a:t>Check whether the pattern persists across clinically meaningful subgroups.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Risk Communication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Current assessment: potential signal requiring validation; uncertainty remains.</a:t>
            </a:r>
          </a:p>
          <a:p>
            <a:pPr>
              <a:spcAft>
                <a:spcPts val="1200"/>
              </a:spcAft>
              <a:defRPr sz="1800"/>
            </a:pPr>
            <a:r>
              <a:t>Risk-minimization question: is existing liver-safety monitoring/management guidance adequate?</a:t>
            </a:r>
          </a:p>
          <a:p>
            <a:pPr>
              <a:spcAft>
                <a:spcPts val="1200"/>
              </a:spcAft>
              <a:defRPr sz="1800"/>
            </a:pPr>
            <a:r>
              <a:t>If confirmed: evaluate whether targeted monitoring, communication or product-information action is appropriate.</a:t>
            </a:r>
          </a:p>
          <a:p>
            <a:pPr>
              <a:spcAft>
                <a:spcPts val="1200"/>
              </a:spcAft>
              <a:defRPr sz="1800"/>
            </a:pPr>
            <a:r>
              <a:t>Document decisions, evidence reviewed, limitations, and next review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Prepared as an educational pharmacovigilance capstone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